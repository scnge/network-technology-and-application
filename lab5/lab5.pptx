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74" r:id="rId4"/>
    <p:sldId id="275" r:id="rId5"/>
    <p:sldId id="258" r:id="rId6"/>
    <p:sldId id="259" r:id="rId7"/>
    <p:sldId id="262" r:id="rId8"/>
    <p:sldId id="276" r:id="rId9"/>
    <p:sldId id="282" r:id="rId10"/>
    <p:sldId id="283" r:id="rId11"/>
    <p:sldId id="265" r:id="rId12"/>
    <p:sldId id="278" r:id="rId13"/>
    <p:sldId id="277" r:id="rId14"/>
    <p:sldId id="279" r:id="rId15"/>
    <p:sldId id="280" r:id="rId16"/>
    <p:sldId id="281" r:id="rId17"/>
    <p:sldId id="273" r:id="rId18"/>
  </p:sldIdLst>
  <p:sldSz cx="12192000" cy="6858000"/>
  <p:notesSz cx="6858000" cy="9144000"/>
  <p:embeddedFontLs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ompeya 1" initials="p1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EBF7"/>
    <a:srgbClr val="BDD7EE"/>
    <a:srgbClr val="000000"/>
    <a:srgbClr val="7CBAD3"/>
    <a:srgbClr val="B4DF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6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365" y="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gs" Target="tags/tag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6FB6A-4531-4075-AE0E-75A872838235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B1F07-7763-43DC-BFA1-28625E3ED5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6FB6A-4531-4075-AE0E-75A872838235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B1F07-7763-43DC-BFA1-28625E3ED5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6FB6A-4531-4075-AE0E-75A872838235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B1F07-7763-43DC-BFA1-28625E3ED5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6FB6A-4531-4075-AE0E-75A872838235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B1F07-7763-43DC-BFA1-28625E3ED5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6FB6A-4531-4075-AE0E-75A872838235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B1F07-7763-43DC-BFA1-28625E3ED5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6FB6A-4531-4075-AE0E-75A872838235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B1F07-7763-43DC-BFA1-28625E3ED5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6FB6A-4531-4075-AE0E-75A872838235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B1F07-7763-43DC-BFA1-28625E3ED5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6FB6A-4531-4075-AE0E-75A872838235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B1F07-7763-43DC-BFA1-28625E3ED5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6FB6A-4531-4075-AE0E-75A872838235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B1F07-7763-43DC-BFA1-28625E3ED5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6FB6A-4531-4075-AE0E-75A872838235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B1F07-7763-43DC-BFA1-28625E3ED5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6FB6A-4531-4075-AE0E-75A872838235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B1F07-7763-43DC-BFA1-28625E3ED5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B6FB6A-4531-4075-AE0E-75A872838235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1B1F07-7763-43DC-BFA1-28625E3ED53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SVmode:HSV"/>
          <p:cNvSpPr txBox="1"/>
          <p:nvPr/>
        </p:nvSpPr>
        <p:spPr>
          <a:xfrm>
            <a:off x="3249747" y="-266700"/>
            <a:ext cx="247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/>
              </a:rPr>
              <a:t> 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B15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矩形: 圆角 9"/>
          <p:cNvSpPr/>
          <p:nvPr/>
        </p:nvSpPr>
        <p:spPr>
          <a:xfrm>
            <a:off x="272980" y="308163"/>
            <a:ext cx="11646039" cy="6241673"/>
          </a:xfrm>
          <a:prstGeom prst="roundRect">
            <a:avLst>
              <a:gd name="adj" fmla="val 3728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文本占位符 4"/>
          <p:cNvSpPr txBox="1"/>
          <p:nvPr/>
        </p:nvSpPr>
        <p:spPr>
          <a:xfrm>
            <a:off x="565150" y="5887163"/>
            <a:ext cx="2228850" cy="3416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15" name="文本占位符 5"/>
          <p:cNvSpPr txBox="1"/>
          <p:nvPr/>
        </p:nvSpPr>
        <p:spPr>
          <a:xfrm>
            <a:off x="3249747" y="5887163"/>
            <a:ext cx="2433461" cy="3416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8" name="yanjiusheng"/>
          <p:cNvSpPr txBox="1"/>
          <p:nvPr/>
        </p:nvSpPr>
        <p:spPr>
          <a:xfrm>
            <a:off x="1648690" y="3004376"/>
            <a:ext cx="8894617" cy="769441"/>
          </a:xfrm>
          <a:prstGeom prst="rect">
            <a:avLst/>
          </a:prstGeom>
          <a:noFill/>
        </p:spPr>
        <p:txBody>
          <a:bodyPr wrap="none" rtlCol="0" anchor="ctr" anchorCtr="1">
            <a:normAutofit/>
          </a:bodyPr>
          <a:lstStyle/>
          <a:p>
            <a:pPr algn="dist"/>
            <a:r>
              <a:rPr lang="en-US" altLang="zh-CN" sz="4400" b="1" spc="300" dirty="0">
                <a:solidFill>
                  <a:srgbClr val="000000"/>
                </a:solidFill>
                <a:ea typeface="等线" panose="02010600030101010101" pitchFamily="2" charset="-122"/>
              </a:rPr>
              <a:t>Lab5</a:t>
            </a:r>
            <a:r>
              <a:rPr lang="zh-CN" altLang="en-US" sz="4400" b="1" spc="300" dirty="0">
                <a:solidFill>
                  <a:srgbClr val="000000"/>
                </a:solidFill>
                <a:ea typeface="等线" panose="02010600030101010101" pitchFamily="2" charset="-122"/>
              </a:rPr>
              <a:t>实验报告</a:t>
            </a:r>
            <a:endParaRPr lang="en-US" altLang="zh-CN" sz="4400" b="1" spc="300" dirty="0">
              <a:solidFill>
                <a:srgbClr val="000000"/>
              </a:solidFill>
              <a:ea typeface="等线" panose="02010600030101010101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146998" y="3871399"/>
            <a:ext cx="78980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/>
                <a:latin typeface="等线" panose="02010600030101010101" pitchFamily="2" charset="-122"/>
                <a:ea typeface="等线" panose="02010600030101010101" pitchFamily="2" charset="-122"/>
              </a:rPr>
              <a:t>简化路由器程序设计</a:t>
            </a:r>
            <a:endParaRPr lang="en-US" altLang="zh-CN" sz="2000" b="1" dirty="0">
              <a:solidFill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095563" y="4661213"/>
            <a:ext cx="20008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汇报人 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| 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才子桓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8" name="Picture 17" descr="59-南开大学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4300" y="874739"/>
            <a:ext cx="1803398" cy="180339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B15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矩形: 圆角 9"/>
          <p:cNvSpPr/>
          <p:nvPr/>
        </p:nvSpPr>
        <p:spPr>
          <a:xfrm>
            <a:off x="272981" y="308164"/>
            <a:ext cx="11646039" cy="6241673"/>
          </a:xfrm>
          <a:prstGeom prst="roundRect">
            <a:avLst>
              <a:gd name="adj" fmla="val 3728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文本框 10"/>
          <p:cNvSpPr txBox="1"/>
          <p:nvPr/>
        </p:nvSpPr>
        <p:spPr>
          <a:xfrm>
            <a:off x="925267" y="959540"/>
            <a:ext cx="17137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目录</a:t>
            </a:r>
            <a:endParaRPr lang="en-US" altLang="zh-CN" sz="4800" b="1" dirty="0">
              <a:solidFill>
                <a:schemeClr val="tx1">
                  <a:lumMod val="75000"/>
                  <a:lumOff val="2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8" name="图形 17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331" y="4402206"/>
            <a:ext cx="431219" cy="406809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1931081" y="4347865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第三章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3649578" y="4347866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相关代码</a:t>
            </a:r>
          </a:p>
        </p:txBody>
      </p:sp>
      <p:pic>
        <p:nvPicPr>
          <p:cNvPr id="21" name="图形 20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7798" y="4429309"/>
            <a:ext cx="509090" cy="480272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7523305" y="440220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第四章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9302823" y="4402206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实验结果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5" name="图形 14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7798" y="2518602"/>
            <a:ext cx="509089" cy="480271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7523305" y="2502071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第二章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9302823" y="2502071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整体流程</a:t>
            </a:r>
          </a:p>
        </p:txBody>
      </p:sp>
      <p:pic>
        <p:nvPicPr>
          <p:cNvPr id="12" name="图形 11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036" y="2578778"/>
            <a:ext cx="477438" cy="450412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931081" y="2502072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第一章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3649578" y="2502072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实验要求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2638967" y="1364524"/>
            <a:ext cx="1826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65DA9-238C-39B9-E4BD-BEE98815F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B1BE66E-65AF-3604-F52F-184F42A7467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B15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DF56D04B-CE44-17CE-9BD7-F76FE5F303F6}"/>
              </a:ext>
            </a:extLst>
          </p:cNvPr>
          <p:cNvSpPr/>
          <p:nvPr/>
        </p:nvSpPr>
        <p:spPr>
          <a:xfrm>
            <a:off x="272981" y="308164"/>
            <a:ext cx="11646039" cy="6241673"/>
          </a:xfrm>
          <a:prstGeom prst="roundRect">
            <a:avLst>
              <a:gd name="adj" fmla="val 3728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4B069B6-B7FE-70E1-149E-7E36A0055BE9}"/>
              </a:ext>
            </a:extLst>
          </p:cNvPr>
          <p:cNvSpPr txBox="1"/>
          <p:nvPr/>
        </p:nvSpPr>
        <p:spPr>
          <a:xfrm>
            <a:off x="6096000" y="2248071"/>
            <a:ext cx="17235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第一章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F33B949-9A73-F285-BF2A-D0CE36A6B56D}"/>
              </a:ext>
            </a:extLst>
          </p:cNvPr>
          <p:cNvSpPr txBox="1"/>
          <p:nvPr/>
        </p:nvSpPr>
        <p:spPr>
          <a:xfrm>
            <a:off x="6096000" y="3140931"/>
            <a:ext cx="33246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实验要求</a:t>
            </a:r>
          </a:p>
        </p:txBody>
      </p:sp>
      <p:pic>
        <p:nvPicPr>
          <p:cNvPr id="9" name="Picture 8" descr="59-南开大学-logo.png">
            <a:extLst>
              <a:ext uri="{FF2B5EF4-FFF2-40B4-BE49-F238E27FC236}">
                <a16:creationId xmlns:a16="http://schemas.microsoft.com/office/drawing/2014/main" id="{11D26116-B7A5-6C26-2CCD-37FB3A0897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8882" y="1922085"/>
            <a:ext cx="2851218" cy="2851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763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27B9A-2409-0FBC-C15B-3A32A091B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9EE000A-C527-DB63-9C81-8342D36B9C5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B15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E7AACBA3-7252-DE50-D956-E77D6C1A2821}"/>
              </a:ext>
            </a:extLst>
          </p:cNvPr>
          <p:cNvSpPr/>
          <p:nvPr/>
        </p:nvSpPr>
        <p:spPr>
          <a:xfrm>
            <a:off x="272981" y="308164"/>
            <a:ext cx="11646039" cy="6241673"/>
          </a:xfrm>
          <a:prstGeom prst="roundRect">
            <a:avLst>
              <a:gd name="adj" fmla="val 3728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/>
                </a:solidFill>
              </a:rPr>
              <a:t>简单路由器程序设计实验的具体要求为：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1. </a:t>
            </a:r>
            <a:r>
              <a:rPr lang="zh-CN" altLang="en-US" dirty="0">
                <a:solidFill>
                  <a:schemeClr val="tx1"/>
                </a:solidFill>
              </a:rPr>
              <a:t>设计和实现一个路由器程序，要求完成的路由器程序能和现有的路由器产品（如思科路由器、华为路由器、微软的路由器等）进行协同工作。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2. </a:t>
            </a:r>
            <a:r>
              <a:rPr lang="zh-CN" altLang="en-US" dirty="0">
                <a:solidFill>
                  <a:schemeClr val="tx1"/>
                </a:solidFill>
              </a:rPr>
              <a:t>程序可以仅实现</a:t>
            </a:r>
            <a:r>
              <a:rPr lang="en-US" altLang="zh-CN" dirty="0">
                <a:solidFill>
                  <a:schemeClr val="tx1"/>
                </a:solidFill>
              </a:rPr>
              <a:t>IP</a:t>
            </a:r>
            <a:r>
              <a:rPr lang="zh-CN" altLang="en-US" dirty="0">
                <a:solidFill>
                  <a:schemeClr val="tx1"/>
                </a:solidFill>
              </a:rPr>
              <a:t>数据报的获取、选路、投递等路由器要求的基本功能。可以忽略分片处理、选项处理、动态路由表生成等功能。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3. </a:t>
            </a:r>
            <a:r>
              <a:rPr lang="zh-CN" altLang="en-US" dirty="0">
                <a:solidFill>
                  <a:schemeClr val="tx1"/>
                </a:solidFill>
              </a:rPr>
              <a:t>需要给出路由表的建立和形成方式。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4. </a:t>
            </a:r>
            <a:r>
              <a:rPr lang="zh-CN" altLang="en-US" dirty="0">
                <a:solidFill>
                  <a:schemeClr val="tx1"/>
                </a:solidFill>
              </a:rPr>
              <a:t>需要给出路由器的工作日志，显示数据报获取和转发过程。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5. </a:t>
            </a:r>
            <a:r>
              <a:rPr lang="zh-CN" altLang="en-US" dirty="0">
                <a:solidFill>
                  <a:schemeClr val="tx1"/>
                </a:solidFill>
              </a:rPr>
              <a:t>完成的程序须通过现场测试，并讲解和报告自己的设计思路、开发和实现过程、测试方法和过程。</a:t>
            </a:r>
          </a:p>
          <a:p>
            <a:endParaRPr lang="zh-CN" altLang="en-US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课堂检查：</a:t>
            </a:r>
          </a:p>
          <a:p>
            <a:r>
              <a:rPr lang="zh-CN" altLang="en-US" dirty="0">
                <a:solidFill>
                  <a:schemeClr val="tx1"/>
                </a:solidFill>
              </a:rPr>
              <a:t>需要大家以个人形式制作一份演示文档，现场讲解一下实验的内容，并最后在系统中提交。</a:t>
            </a:r>
          </a:p>
          <a:p>
            <a:r>
              <a:rPr lang="zh-CN" altLang="en-US" dirty="0">
                <a:solidFill>
                  <a:schemeClr val="tx1"/>
                </a:solidFill>
              </a:rPr>
              <a:t>要求：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1. </a:t>
            </a:r>
            <a:r>
              <a:rPr lang="zh-CN" altLang="en-US" dirty="0">
                <a:solidFill>
                  <a:schemeClr val="tx1"/>
                </a:solidFill>
              </a:rPr>
              <a:t>页面简洁有序，避免文字堆砌，建议多图少字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2. </a:t>
            </a:r>
            <a:r>
              <a:rPr lang="zh-CN" altLang="en-US" dirty="0">
                <a:solidFill>
                  <a:schemeClr val="tx1"/>
                </a:solidFill>
              </a:rPr>
              <a:t>按照要求，需要有设计思路、开发和实现过程、测试方法和过程的内容，有关测试的内容可以当堂完成。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3. </a:t>
            </a:r>
            <a:r>
              <a:rPr lang="zh-CN" altLang="en-US" dirty="0">
                <a:solidFill>
                  <a:schemeClr val="tx1"/>
                </a:solidFill>
              </a:rPr>
              <a:t>着重以模块形式讲解你的代码设计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8548632-50D3-F143-71E8-22A90468BD60}"/>
              </a:ext>
            </a:extLst>
          </p:cNvPr>
          <p:cNvSpPr txBox="1"/>
          <p:nvPr/>
        </p:nvSpPr>
        <p:spPr>
          <a:xfrm>
            <a:off x="797412" y="760357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第一章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FC09549-B1C4-B4B0-FBCB-4FE3F26514C6}"/>
              </a:ext>
            </a:extLst>
          </p:cNvPr>
          <p:cNvSpPr txBox="1"/>
          <p:nvPr/>
        </p:nvSpPr>
        <p:spPr>
          <a:xfrm>
            <a:off x="1929635" y="760357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整体流程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C730DC6A-4266-2767-057E-13CADCA89C17}"/>
              </a:ext>
            </a:extLst>
          </p:cNvPr>
          <p:cNvCxnSpPr/>
          <p:nvPr/>
        </p:nvCxnSpPr>
        <p:spPr>
          <a:xfrm>
            <a:off x="1842505" y="910273"/>
            <a:ext cx="0" cy="13105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4888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B15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矩形: 圆角 4"/>
          <p:cNvSpPr/>
          <p:nvPr/>
        </p:nvSpPr>
        <p:spPr>
          <a:xfrm>
            <a:off x="272981" y="308164"/>
            <a:ext cx="11646039" cy="6241673"/>
          </a:xfrm>
          <a:prstGeom prst="roundRect">
            <a:avLst>
              <a:gd name="adj" fmla="val 3728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文本框 1"/>
          <p:cNvSpPr txBox="1"/>
          <p:nvPr/>
        </p:nvSpPr>
        <p:spPr>
          <a:xfrm>
            <a:off x="6096000" y="2248071"/>
            <a:ext cx="17235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第二章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096000" y="3140931"/>
            <a:ext cx="33246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整体流程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096000" y="4249393"/>
            <a:ext cx="371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dist">
              <a:defRPr/>
            </a:pPr>
            <a:r>
              <a:rPr lang="en-US" altLang="zh-CN" dirty="0">
                <a:solidFill/>
                <a:latin typeface="等线" panose="02010600030101010101" pitchFamily="2" charset="-122"/>
                <a:ea typeface="等线" panose="02010600030101010101" pitchFamily="2" charset="-122"/>
              </a:rPr>
              <a:t>RESEARCH BACKGROUND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9" name="Picture 8" descr="59-南开大学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8882" y="1922085"/>
            <a:ext cx="2851218" cy="285121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B15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矩形: 圆角 2"/>
          <p:cNvSpPr/>
          <p:nvPr/>
        </p:nvSpPr>
        <p:spPr>
          <a:xfrm>
            <a:off x="272981" y="308164"/>
            <a:ext cx="11646039" cy="6241673"/>
          </a:xfrm>
          <a:prstGeom prst="roundRect">
            <a:avLst>
              <a:gd name="adj" fmla="val 3728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797412" y="760357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第二章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929635" y="760357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整体流程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264050" y="3909208"/>
            <a:ext cx="5950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zh-CN" altLang="en-US" sz="160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填写</a:t>
            </a:r>
            <a:endParaRPr lang="en-US" altLang="zh-CN" sz="1600" b="1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algn="dist"/>
            <a:r>
              <a:rPr lang="zh-CN" altLang="en-US" sz="160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标题</a:t>
            </a:r>
            <a:endParaRPr lang="zh-CN" altLang="en-US" sz="1400" b="1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1842505" y="910273"/>
            <a:ext cx="0" cy="13105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图片 25">
            <a:extLst>
              <a:ext uri="{FF2B5EF4-FFF2-40B4-BE49-F238E27FC236}">
                <a16:creationId xmlns:a16="http://schemas.microsoft.com/office/drawing/2014/main" id="{7053A1D0-30C5-5CCC-AE98-095C1D82B2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454" y="1160467"/>
            <a:ext cx="8611091" cy="515007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B15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矩形: 圆角 4"/>
          <p:cNvSpPr/>
          <p:nvPr/>
        </p:nvSpPr>
        <p:spPr>
          <a:xfrm>
            <a:off x="272981" y="308164"/>
            <a:ext cx="11646039" cy="6241673"/>
          </a:xfrm>
          <a:prstGeom prst="roundRect">
            <a:avLst>
              <a:gd name="adj" fmla="val 3728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文本框 1"/>
          <p:cNvSpPr txBox="1"/>
          <p:nvPr/>
        </p:nvSpPr>
        <p:spPr>
          <a:xfrm>
            <a:off x="6096000" y="2248071"/>
            <a:ext cx="17235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第</a:t>
            </a:r>
            <a:r>
              <a:rPr lang="zh-CN" altLang="en-US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三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章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096000" y="3110451"/>
            <a:ext cx="33246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dist">
              <a:defRPr/>
            </a:pPr>
            <a:r>
              <a:rPr lang="zh-CN" altLang="en-US" sz="4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相关代码</a:t>
            </a:r>
          </a:p>
        </p:txBody>
      </p:sp>
      <p:pic>
        <p:nvPicPr>
          <p:cNvPr id="9" name="Picture 8" descr="59-南开大学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8882" y="1922085"/>
            <a:ext cx="2851218" cy="285121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37F76-2F2E-5DAC-5873-F707D54B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D47E188-AD4E-F664-D0AA-1A07B7A7B20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B15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DFD434A8-2B3A-64D3-3D7E-3FCE0B08E776}"/>
              </a:ext>
            </a:extLst>
          </p:cNvPr>
          <p:cNvSpPr/>
          <p:nvPr/>
        </p:nvSpPr>
        <p:spPr>
          <a:xfrm>
            <a:off x="272981" y="308164"/>
            <a:ext cx="11646039" cy="6241673"/>
          </a:xfrm>
          <a:prstGeom prst="roundRect">
            <a:avLst>
              <a:gd name="adj" fmla="val 3728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B098ACA-1EA7-5492-E980-F6B0EA0FD2BA}"/>
              </a:ext>
            </a:extLst>
          </p:cNvPr>
          <p:cNvSpPr txBox="1"/>
          <p:nvPr/>
        </p:nvSpPr>
        <p:spPr>
          <a:xfrm>
            <a:off x="797412" y="760357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第三章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2579413-1413-4BAC-8573-E433C6A4ABE3}"/>
              </a:ext>
            </a:extLst>
          </p:cNvPr>
          <p:cNvSpPr txBox="1"/>
          <p:nvPr/>
        </p:nvSpPr>
        <p:spPr>
          <a:xfrm>
            <a:off x="1929635" y="760357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相关代码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68CA9D5-A908-B5F6-9DB3-EDCDDCF23E6F}"/>
              </a:ext>
            </a:extLst>
          </p:cNvPr>
          <p:cNvSpPr/>
          <p:nvPr/>
        </p:nvSpPr>
        <p:spPr>
          <a:xfrm>
            <a:off x="3264050" y="3909208"/>
            <a:ext cx="5950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zh-CN" altLang="en-US" sz="160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填写</a:t>
            </a:r>
            <a:endParaRPr lang="en-US" altLang="zh-CN" sz="1600" b="1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algn="dist"/>
            <a:r>
              <a:rPr lang="zh-CN" altLang="en-US" sz="160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标题</a:t>
            </a:r>
            <a:endParaRPr lang="zh-CN" altLang="en-US" sz="1400" b="1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C8C09A6C-4170-35A3-EB3B-602C43A7B0B7}"/>
              </a:ext>
            </a:extLst>
          </p:cNvPr>
          <p:cNvCxnSpPr/>
          <p:nvPr/>
        </p:nvCxnSpPr>
        <p:spPr>
          <a:xfrm>
            <a:off x="1842505" y="910273"/>
            <a:ext cx="0" cy="13105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>
            <a:extLst>
              <a:ext uri="{FF2B5EF4-FFF2-40B4-BE49-F238E27FC236}">
                <a16:creationId xmlns:a16="http://schemas.microsoft.com/office/drawing/2014/main" id="{0D740697-3079-91C5-96A1-F17FE1AD9C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081" y="1468631"/>
            <a:ext cx="3171825" cy="24003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440C0E7-3DD2-D117-1AF9-33BD1AE5B9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4148" y="1468631"/>
            <a:ext cx="5010150" cy="320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9926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71EFD-A46E-33D6-D6DF-DF28E1B8D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1A7F7E-3BFC-492B-AE71-A2041DDEE94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B15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D41FD9B9-7DA9-A9D2-CC34-4DEF73E1686F}"/>
              </a:ext>
            </a:extLst>
          </p:cNvPr>
          <p:cNvSpPr/>
          <p:nvPr/>
        </p:nvSpPr>
        <p:spPr>
          <a:xfrm>
            <a:off x="272981" y="308164"/>
            <a:ext cx="11646039" cy="6241673"/>
          </a:xfrm>
          <a:prstGeom prst="roundRect">
            <a:avLst>
              <a:gd name="adj" fmla="val 3728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39D926E-DB0C-8908-FD8F-40B951079339}"/>
              </a:ext>
            </a:extLst>
          </p:cNvPr>
          <p:cNvSpPr txBox="1"/>
          <p:nvPr/>
        </p:nvSpPr>
        <p:spPr>
          <a:xfrm>
            <a:off x="797412" y="760357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第三章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8340C95-8262-A8B1-4681-07292CF37104}"/>
              </a:ext>
            </a:extLst>
          </p:cNvPr>
          <p:cNvSpPr txBox="1"/>
          <p:nvPr/>
        </p:nvSpPr>
        <p:spPr>
          <a:xfrm>
            <a:off x="1929635" y="760357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相关代码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9B151F2-AF6A-6945-6A5D-494CC6D387A6}"/>
              </a:ext>
            </a:extLst>
          </p:cNvPr>
          <p:cNvSpPr/>
          <p:nvPr/>
        </p:nvSpPr>
        <p:spPr>
          <a:xfrm>
            <a:off x="3264050" y="3909208"/>
            <a:ext cx="5950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zh-CN" altLang="en-US" sz="160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填写</a:t>
            </a:r>
            <a:endParaRPr lang="en-US" altLang="zh-CN" sz="1600" b="1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algn="dist"/>
            <a:r>
              <a:rPr lang="zh-CN" altLang="en-US" sz="160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标题</a:t>
            </a:r>
            <a:endParaRPr lang="zh-CN" altLang="en-US" sz="1400" b="1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80398231-E2BD-FFC1-3C32-DA5E831C1590}"/>
              </a:ext>
            </a:extLst>
          </p:cNvPr>
          <p:cNvCxnSpPr/>
          <p:nvPr/>
        </p:nvCxnSpPr>
        <p:spPr>
          <a:xfrm>
            <a:off x="1842505" y="910273"/>
            <a:ext cx="0" cy="13105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>
            <a:extLst>
              <a:ext uri="{FF2B5EF4-FFF2-40B4-BE49-F238E27FC236}">
                <a16:creationId xmlns:a16="http://schemas.microsoft.com/office/drawing/2014/main" id="{7CB49817-266B-80D1-9CE3-1D0B683910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198" y="1246562"/>
            <a:ext cx="3864000" cy="413533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709F0773-4644-E1F9-460C-0A592777CE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7486" y="1246562"/>
            <a:ext cx="4295431" cy="408541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D973261B-7DF8-4BD3-438C-66F1FC055B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2917" y="1335206"/>
            <a:ext cx="3423686" cy="3958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0676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4F22A-C5B3-C8AD-DC5A-3A781A6C5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DBCB524-FDCD-3A89-A42E-35E04313189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B15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E792FD67-2DC6-A90B-5E26-AB2A116F70CF}"/>
              </a:ext>
            </a:extLst>
          </p:cNvPr>
          <p:cNvSpPr/>
          <p:nvPr/>
        </p:nvSpPr>
        <p:spPr>
          <a:xfrm>
            <a:off x="272981" y="308164"/>
            <a:ext cx="11646039" cy="6241673"/>
          </a:xfrm>
          <a:prstGeom prst="roundRect">
            <a:avLst>
              <a:gd name="adj" fmla="val 3728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9E1CA24-95F8-D59F-7535-142803B2134C}"/>
              </a:ext>
            </a:extLst>
          </p:cNvPr>
          <p:cNvSpPr txBox="1"/>
          <p:nvPr/>
        </p:nvSpPr>
        <p:spPr>
          <a:xfrm>
            <a:off x="797412" y="760357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第三章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0E5A58E-2AE2-A9A7-A7DE-F85F6394CEBA}"/>
              </a:ext>
            </a:extLst>
          </p:cNvPr>
          <p:cNvSpPr txBox="1"/>
          <p:nvPr/>
        </p:nvSpPr>
        <p:spPr>
          <a:xfrm>
            <a:off x="1929635" y="760357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相关代码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D1C98F1-605E-24D0-733A-DF38389A1A44}"/>
              </a:ext>
            </a:extLst>
          </p:cNvPr>
          <p:cNvSpPr/>
          <p:nvPr/>
        </p:nvSpPr>
        <p:spPr>
          <a:xfrm>
            <a:off x="3264050" y="3909208"/>
            <a:ext cx="5950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zh-CN" altLang="en-US" sz="160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填写</a:t>
            </a:r>
            <a:endParaRPr lang="en-US" altLang="zh-CN" sz="1600" b="1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algn="dist"/>
            <a:r>
              <a:rPr lang="zh-CN" altLang="en-US" sz="160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标题</a:t>
            </a:r>
            <a:endParaRPr lang="zh-CN" altLang="en-US" sz="1400" b="1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EE75ED26-4BB9-4803-9B1F-A4CFE5CEFEFE}"/>
              </a:ext>
            </a:extLst>
          </p:cNvPr>
          <p:cNvCxnSpPr/>
          <p:nvPr/>
        </p:nvCxnSpPr>
        <p:spPr>
          <a:xfrm>
            <a:off x="1842505" y="910273"/>
            <a:ext cx="0" cy="13105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片 15">
            <a:extLst>
              <a:ext uri="{FF2B5EF4-FFF2-40B4-BE49-F238E27FC236}">
                <a16:creationId xmlns:a16="http://schemas.microsoft.com/office/drawing/2014/main" id="{A2DA39A3-D5AC-0B71-8FB9-5761335ABB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422" y="1643437"/>
            <a:ext cx="4466326" cy="377516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560312E-F542-421F-A7F8-E305559AA7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0369" y="1502228"/>
            <a:ext cx="4800013" cy="4276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8009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B15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矩形: 圆角 4"/>
          <p:cNvSpPr/>
          <p:nvPr/>
        </p:nvSpPr>
        <p:spPr>
          <a:xfrm>
            <a:off x="272981" y="308164"/>
            <a:ext cx="11646039" cy="6241673"/>
          </a:xfrm>
          <a:prstGeom prst="roundRect">
            <a:avLst>
              <a:gd name="adj" fmla="val 3728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文本框 1"/>
          <p:cNvSpPr txBox="1"/>
          <p:nvPr/>
        </p:nvSpPr>
        <p:spPr>
          <a:xfrm>
            <a:off x="6096000" y="2248071"/>
            <a:ext cx="17235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第</a:t>
            </a:r>
            <a:r>
              <a:rPr lang="zh-CN" altLang="en-US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四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章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096000" y="3110451"/>
            <a:ext cx="33246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dist">
              <a:defRPr/>
            </a:pPr>
            <a:r>
              <a:rPr lang="zh-CN" altLang="en-US" sz="4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实验结果</a:t>
            </a:r>
          </a:p>
        </p:txBody>
      </p:sp>
      <p:pic>
        <p:nvPicPr>
          <p:cNvPr id="9" name="Picture 8" descr="59-南开大学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8882" y="1922085"/>
            <a:ext cx="2851218" cy="285121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7BB37-C122-3850-CBE9-18C215472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973993C-D5B5-D9CA-065C-7618DE54B25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B15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BE6CE8EE-5D91-9CB1-5762-486B246DE799}"/>
              </a:ext>
            </a:extLst>
          </p:cNvPr>
          <p:cNvSpPr/>
          <p:nvPr/>
        </p:nvSpPr>
        <p:spPr>
          <a:xfrm>
            <a:off x="272980" y="308163"/>
            <a:ext cx="11646039" cy="6241673"/>
          </a:xfrm>
          <a:prstGeom prst="roundRect">
            <a:avLst>
              <a:gd name="adj" fmla="val 3728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添加</a:t>
            </a:r>
            <a:endParaRPr 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C958314-656D-9E05-83EA-02C99121F0AA}"/>
              </a:ext>
            </a:extLst>
          </p:cNvPr>
          <p:cNvSpPr txBox="1"/>
          <p:nvPr/>
        </p:nvSpPr>
        <p:spPr>
          <a:xfrm>
            <a:off x="797412" y="760357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第四章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A8C5226-CF59-D4F0-0610-D42B7D591C0A}"/>
              </a:ext>
            </a:extLst>
          </p:cNvPr>
          <p:cNvSpPr txBox="1"/>
          <p:nvPr/>
        </p:nvSpPr>
        <p:spPr>
          <a:xfrm>
            <a:off x="1929635" y="760357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实验结果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873FA69-33F2-4400-22CC-3F9C7F5D91D8}"/>
              </a:ext>
            </a:extLst>
          </p:cNvPr>
          <p:cNvSpPr/>
          <p:nvPr/>
        </p:nvSpPr>
        <p:spPr>
          <a:xfrm>
            <a:off x="3264050" y="3909208"/>
            <a:ext cx="5950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zh-CN" altLang="en-US" sz="160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填写</a:t>
            </a:r>
            <a:endParaRPr lang="en-US" altLang="zh-CN" sz="1600" b="1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algn="dist"/>
            <a:r>
              <a:rPr lang="zh-CN" altLang="en-US" sz="160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标题</a:t>
            </a:r>
            <a:endParaRPr lang="zh-CN" altLang="en-US" sz="1400" b="1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27428070-4080-D2D2-0EE2-9ED11BB0D06A}"/>
              </a:ext>
            </a:extLst>
          </p:cNvPr>
          <p:cNvCxnSpPr/>
          <p:nvPr/>
        </p:nvCxnSpPr>
        <p:spPr>
          <a:xfrm>
            <a:off x="1842505" y="910273"/>
            <a:ext cx="0" cy="13105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>
            <a:extLst>
              <a:ext uri="{FF2B5EF4-FFF2-40B4-BE49-F238E27FC236}">
                <a16:creationId xmlns:a16="http://schemas.microsoft.com/office/drawing/2014/main" id="{8A1E023D-C4F2-A4AF-8562-700EC94FD0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412" y="1268468"/>
            <a:ext cx="6381750" cy="482917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0F93AB95-298D-49E1-A3E5-05387F6C9F1E}"/>
              </a:ext>
            </a:extLst>
          </p:cNvPr>
          <p:cNvSpPr txBox="1"/>
          <p:nvPr/>
        </p:nvSpPr>
        <p:spPr>
          <a:xfrm>
            <a:off x="7703594" y="1475884"/>
            <a:ext cx="361188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dirty="0"/>
          </a:p>
          <a:p>
            <a:r>
              <a:rPr lang="zh-CN" altLang="en-US" dirty="0"/>
              <a:t>查询网卡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用户选择网卡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输出选择网卡相关信息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输出当前路由表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主循环，提供选择</a:t>
            </a: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38AFF0A1-A71F-9B03-4BFD-9805A3CEE3C3}"/>
              </a:ext>
            </a:extLst>
          </p:cNvPr>
          <p:cNvCxnSpPr>
            <a:cxnSpLocks/>
          </p:cNvCxnSpPr>
          <p:nvPr/>
        </p:nvCxnSpPr>
        <p:spPr>
          <a:xfrm>
            <a:off x="3561567" y="1937908"/>
            <a:ext cx="4180113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0E200D41-1BF1-3238-6D47-8698A0BB85B1}"/>
              </a:ext>
            </a:extLst>
          </p:cNvPr>
          <p:cNvCxnSpPr>
            <a:cxnSpLocks/>
          </p:cNvCxnSpPr>
          <p:nvPr/>
        </p:nvCxnSpPr>
        <p:spPr>
          <a:xfrm flipV="1">
            <a:off x="2788920" y="2521856"/>
            <a:ext cx="4952760" cy="1204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B9BB975D-035C-D184-5472-FB5745A43A14}"/>
              </a:ext>
            </a:extLst>
          </p:cNvPr>
          <p:cNvCxnSpPr>
            <a:cxnSpLocks/>
          </p:cNvCxnSpPr>
          <p:nvPr/>
        </p:nvCxnSpPr>
        <p:spPr>
          <a:xfrm>
            <a:off x="3559389" y="3024302"/>
            <a:ext cx="4180113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243B9780-A8C5-B6A2-99D4-3C3A635AB4B0}"/>
              </a:ext>
            </a:extLst>
          </p:cNvPr>
          <p:cNvCxnSpPr>
            <a:cxnSpLocks/>
          </p:cNvCxnSpPr>
          <p:nvPr/>
        </p:nvCxnSpPr>
        <p:spPr>
          <a:xfrm flipV="1">
            <a:off x="2534929" y="4201595"/>
            <a:ext cx="5250534" cy="1331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FF52E2FD-4CBE-EEA5-C045-0BE459A82250}"/>
              </a:ext>
            </a:extLst>
          </p:cNvPr>
          <p:cNvCxnSpPr>
            <a:cxnSpLocks/>
          </p:cNvCxnSpPr>
          <p:nvPr/>
        </p:nvCxnSpPr>
        <p:spPr>
          <a:xfrm>
            <a:off x="2999049" y="5467056"/>
            <a:ext cx="4786414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43962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B8CA6-0C11-653A-B730-C8196B306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917ADB1-E98A-63B9-4344-C0222750392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B15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E5FE9B12-16AB-55F6-1105-A5361C092185}"/>
              </a:ext>
            </a:extLst>
          </p:cNvPr>
          <p:cNvSpPr/>
          <p:nvPr/>
        </p:nvSpPr>
        <p:spPr>
          <a:xfrm>
            <a:off x="272981" y="308164"/>
            <a:ext cx="11646039" cy="6241673"/>
          </a:xfrm>
          <a:prstGeom prst="roundRect">
            <a:avLst>
              <a:gd name="adj" fmla="val 3728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BF4F191-0082-1471-153A-4EA4A2590CD6}"/>
              </a:ext>
            </a:extLst>
          </p:cNvPr>
          <p:cNvSpPr txBox="1"/>
          <p:nvPr/>
        </p:nvSpPr>
        <p:spPr>
          <a:xfrm>
            <a:off x="797412" y="760357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第四章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B37AB2F-8F95-467F-E8A1-2784CA62C3DB}"/>
              </a:ext>
            </a:extLst>
          </p:cNvPr>
          <p:cNvSpPr txBox="1"/>
          <p:nvPr/>
        </p:nvSpPr>
        <p:spPr>
          <a:xfrm>
            <a:off x="1929635" y="760357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实验结果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82F68A0-CDAB-CF32-EC5C-FB9BB48657E4}"/>
              </a:ext>
            </a:extLst>
          </p:cNvPr>
          <p:cNvSpPr/>
          <p:nvPr/>
        </p:nvSpPr>
        <p:spPr>
          <a:xfrm>
            <a:off x="3264050" y="3909208"/>
            <a:ext cx="5950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zh-CN" altLang="en-US" sz="160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填写</a:t>
            </a:r>
            <a:endParaRPr lang="en-US" altLang="zh-CN" sz="1600" b="1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algn="dist"/>
            <a:r>
              <a:rPr lang="zh-CN" altLang="en-US" sz="160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标题</a:t>
            </a:r>
            <a:endParaRPr lang="zh-CN" altLang="en-US" sz="1400" b="1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3FF0207D-77C4-9D2A-8812-62C37C7FC841}"/>
              </a:ext>
            </a:extLst>
          </p:cNvPr>
          <p:cNvCxnSpPr/>
          <p:nvPr/>
        </p:nvCxnSpPr>
        <p:spPr>
          <a:xfrm>
            <a:off x="1842505" y="910273"/>
            <a:ext cx="0" cy="13105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>
            <a:extLst>
              <a:ext uri="{FF2B5EF4-FFF2-40B4-BE49-F238E27FC236}">
                <a16:creationId xmlns:a16="http://schemas.microsoft.com/office/drawing/2014/main" id="{1727E75F-D809-8B4C-E80F-59DAA68D74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412" y="1493608"/>
            <a:ext cx="6381750" cy="3000375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C66638FA-6A1F-CC4C-BCA1-736696BC0742}"/>
              </a:ext>
            </a:extLst>
          </p:cNvPr>
          <p:cNvSpPr/>
          <p:nvPr/>
        </p:nvSpPr>
        <p:spPr>
          <a:xfrm>
            <a:off x="861479" y="3386100"/>
            <a:ext cx="2592977" cy="6372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88A6D48-5A4F-48FB-1E95-55A39C9A6458}"/>
              </a:ext>
            </a:extLst>
          </p:cNvPr>
          <p:cNvSpPr txBox="1"/>
          <p:nvPr/>
        </p:nvSpPr>
        <p:spPr>
          <a:xfrm>
            <a:off x="7791993" y="3386100"/>
            <a:ext cx="1632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添加路由表项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B6ECABFE-D12D-04A4-2BEC-9A24DD5A94C5}"/>
              </a:ext>
            </a:extLst>
          </p:cNvPr>
          <p:cNvCxnSpPr>
            <a:endCxn id="9" idx="1"/>
          </p:cNvCxnSpPr>
          <p:nvPr/>
        </p:nvCxnSpPr>
        <p:spPr>
          <a:xfrm flipV="1">
            <a:off x="3611880" y="3570766"/>
            <a:ext cx="4180113" cy="13396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64407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6432F-A5B5-26D6-BF0A-58A9E784D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5B72AD1-51C5-4B89-4654-4CF611095EE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B15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D0A55465-FD21-F8D4-125D-D8A82345465F}"/>
              </a:ext>
            </a:extLst>
          </p:cNvPr>
          <p:cNvSpPr/>
          <p:nvPr/>
        </p:nvSpPr>
        <p:spPr>
          <a:xfrm>
            <a:off x="272981" y="308164"/>
            <a:ext cx="11646039" cy="6241673"/>
          </a:xfrm>
          <a:prstGeom prst="roundRect">
            <a:avLst>
              <a:gd name="adj" fmla="val 3728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9FB8BA2-9A19-DA0D-4DA3-48D154238576}"/>
              </a:ext>
            </a:extLst>
          </p:cNvPr>
          <p:cNvSpPr txBox="1"/>
          <p:nvPr/>
        </p:nvSpPr>
        <p:spPr>
          <a:xfrm>
            <a:off x="797412" y="760357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第四章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2E6CDA3-51E2-0ED8-D19B-38FF84652212}"/>
              </a:ext>
            </a:extLst>
          </p:cNvPr>
          <p:cNvSpPr txBox="1"/>
          <p:nvPr/>
        </p:nvSpPr>
        <p:spPr>
          <a:xfrm>
            <a:off x="1929635" y="760357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实验结果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1D3A0CD-43FC-A5B9-6FB8-ABE5144B80FA}"/>
              </a:ext>
            </a:extLst>
          </p:cNvPr>
          <p:cNvSpPr/>
          <p:nvPr/>
        </p:nvSpPr>
        <p:spPr>
          <a:xfrm>
            <a:off x="3264050" y="3909208"/>
            <a:ext cx="5950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zh-CN" altLang="en-US" sz="160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填写</a:t>
            </a:r>
            <a:endParaRPr lang="en-US" altLang="zh-CN" sz="1600" b="1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algn="dist"/>
            <a:r>
              <a:rPr lang="zh-CN" altLang="en-US" sz="160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标题</a:t>
            </a:r>
            <a:endParaRPr lang="zh-CN" altLang="en-US" sz="1400" b="1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89AAB5D9-71E3-8F97-84B4-061E33E3C757}"/>
              </a:ext>
            </a:extLst>
          </p:cNvPr>
          <p:cNvCxnSpPr/>
          <p:nvPr/>
        </p:nvCxnSpPr>
        <p:spPr>
          <a:xfrm>
            <a:off x="1842505" y="910273"/>
            <a:ext cx="0" cy="13105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>
            <a:extLst>
              <a:ext uri="{FF2B5EF4-FFF2-40B4-BE49-F238E27FC236}">
                <a16:creationId xmlns:a16="http://schemas.microsoft.com/office/drawing/2014/main" id="{58DCC3D0-3F9F-9DEA-ACF2-DB9A56AFD4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412" y="1443842"/>
            <a:ext cx="6353175" cy="300990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4D91117D-9553-4DC2-293A-8B4A28FB8E09}"/>
              </a:ext>
            </a:extLst>
          </p:cNvPr>
          <p:cNvSpPr/>
          <p:nvPr/>
        </p:nvSpPr>
        <p:spPr>
          <a:xfrm>
            <a:off x="797412" y="1977514"/>
            <a:ext cx="2592977" cy="20001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DA36FF72-50D4-CB55-92A7-E95AAB53A02E}"/>
              </a:ext>
            </a:extLst>
          </p:cNvPr>
          <p:cNvCxnSpPr>
            <a:cxnSpLocks/>
          </p:cNvCxnSpPr>
          <p:nvPr/>
        </p:nvCxnSpPr>
        <p:spPr>
          <a:xfrm>
            <a:off x="3561567" y="2437632"/>
            <a:ext cx="424349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64EF8AE3-76E2-D6F1-20DE-3F60F267F90F}"/>
              </a:ext>
            </a:extLst>
          </p:cNvPr>
          <p:cNvSpPr txBox="1"/>
          <p:nvPr/>
        </p:nvSpPr>
        <p:spPr>
          <a:xfrm>
            <a:off x="8125096" y="2318657"/>
            <a:ext cx="3030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添加成功后查看路由表项</a:t>
            </a:r>
          </a:p>
        </p:txBody>
      </p:sp>
    </p:spTree>
    <p:extLst>
      <p:ext uri="{BB962C8B-B14F-4D97-AF65-F5344CB8AC3E}">
        <p14:creationId xmlns:p14="http://schemas.microsoft.com/office/powerpoint/2010/main" val="20462564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2A316-28EB-837D-650B-11E958396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24B389A-AA26-C38B-31DA-7251D4E96AD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B15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6531F486-D79E-CD51-9F35-C8579053590C}"/>
              </a:ext>
            </a:extLst>
          </p:cNvPr>
          <p:cNvSpPr/>
          <p:nvPr/>
        </p:nvSpPr>
        <p:spPr>
          <a:xfrm>
            <a:off x="272981" y="308164"/>
            <a:ext cx="11646039" cy="6241673"/>
          </a:xfrm>
          <a:prstGeom prst="roundRect">
            <a:avLst>
              <a:gd name="adj" fmla="val 3728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71A54EA-EFF8-BFFA-CB83-FF1B4F32BD14}"/>
              </a:ext>
            </a:extLst>
          </p:cNvPr>
          <p:cNvSpPr txBox="1"/>
          <p:nvPr/>
        </p:nvSpPr>
        <p:spPr>
          <a:xfrm>
            <a:off x="797412" y="760357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第四章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A92B5BF-BFD8-E7FB-C43F-776B70B84AF1}"/>
              </a:ext>
            </a:extLst>
          </p:cNvPr>
          <p:cNvSpPr txBox="1"/>
          <p:nvPr/>
        </p:nvSpPr>
        <p:spPr>
          <a:xfrm>
            <a:off x="1929635" y="760357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实验结果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D63949E-3AE1-D811-E4E9-F7B322936F97}"/>
              </a:ext>
            </a:extLst>
          </p:cNvPr>
          <p:cNvSpPr/>
          <p:nvPr/>
        </p:nvSpPr>
        <p:spPr>
          <a:xfrm>
            <a:off x="3264050" y="3909208"/>
            <a:ext cx="5950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zh-CN" altLang="en-US" sz="160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填写</a:t>
            </a:r>
            <a:endParaRPr lang="en-US" altLang="zh-CN" sz="1600" b="1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algn="dist"/>
            <a:r>
              <a:rPr lang="zh-CN" altLang="en-US" sz="160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标题</a:t>
            </a:r>
            <a:endParaRPr lang="zh-CN" altLang="en-US" sz="1400" b="1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872F69D3-0FDF-3903-4CD7-9C66136BB2C6}"/>
              </a:ext>
            </a:extLst>
          </p:cNvPr>
          <p:cNvCxnSpPr/>
          <p:nvPr/>
        </p:nvCxnSpPr>
        <p:spPr>
          <a:xfrm>
            <a:off x="1842505" y="910273"/>
            <a:ext cx="0" cy="13105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4B116D49-75C9-DBF6-34F5-581B764A3C90}"/>
              </a:ext>
            </a:extLst>
          </p:cNvPr>
          <p:cNvSpPr txBox="1"/>
          <p:nvPr/>
        </p:nvSpPr>
        <p:spPr>
          <a:xfrm>
            <a:off x="7884556" y="1848017"/>
            <a:ext cx="3030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主机</a:t>
            </a:r>
            <a:r>
              <a:rPr lang="en-US" altLang="zh-CN" dirty="0"/>
              <a:t>1 IP</a:t>
            </a:r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00BF6DA-206B-07E5-FEBB-1A00F0FF6A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412" y="1468631"/>
            <a:ext cx="6315075" cy="3228975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85387297-5737-955E-7B34-1805BF73C4F6}"/>
              </a:ext>
            </a:extLst>
          </p:cNvPr>
          <p:cNvSpPr/>
          <p:nvPr/>
        </p:nvSpPr>
        <p:spPr>
          <a:xfrm>
            <a:off x="767151" y="2746615"/>
            <a:ext cx="4425335" cy="18204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1C2F2CB0-04A4-EFF6-2F9A-2A77796B14DB}"/>
              </a:ext>
            </a:extLst>
          </p:cNvPr>
          <p:cNvCxnSpPr>
            <a:cxnSpLocks/>
          </p:cNvCxnSpPr>
          <p:nvPr/>
        </p:nvCxnSpPr>
        <p:spPr>
          <a:xfrm>
            <a:off x="4600064" y="2032683"/>
            <a:ext cx="323765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DA36FF72-50D4-CB55-92A7-E95AAB53A02E}"/>
              </a:ext>
            </a:extLst>
          </p:cNvPr>
          <p:cNvCxnSpPr>
            <a:cxnSpLocks/>
          </p:cNvCxnSpPr>
          <p:nvPr/>
        </p:nvCxnSpPr>
        <p:spPr>
          <a:xfrm>
            <a:off x="5284350" y="2851762"/>
            <a:ext cx="2553364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85BCF222-8E05-D214-C057-6DF4F306B668}"/>
              </a:ext>
            </a:extLst>
          </p:cNvPr>
          <p:cNvSpPr txBox="1"/>
          <p:nvPr/>
        </p:nvSpPr>
        <p:spPr>
          <a:xfrm>
            <a:off x="7929578" y="2713786"/>
            <a:ext cx="2553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Ping </a:t>
            </a:r>
            <a:r>
              <a:rPr lang="zh-CN" altLang="en-US" dirty="0"/>
              <a:t>通主机</a:t>
            </a:r>
            <a:r>
              <a:rPr lang="en-US" altLang="zh-CN" dirty="0"/>
              <a:t>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251760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8B076-94B3-79D5-10FB-A48B0A2E2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0445793-A2AB-4619-DF4D-0E307AF315E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B15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52C0307E-7E17-FB00-D515-2D4BB281AD19}"/>
              </a:ext>
            </a:extLst>
          </p:cNvPr>
          <p:cNvSpPr/>
          <p:nvPr/>
        </p:nvSpPr>
        <p:spPr>
          <a:xfrm>
            <a:off x="272981" y="308164"/>
            <a:ext cx="11646039" cy="6241673"/>
          </a:xfrm>
          <a:prstGeom prst="roundRect">
            <a:avLst>
              <a:gd name="adj" fmla="val 3728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4854FFF-0DB6-A706-C793-B18A0B0BDFB9}"/>
              </a:ext>
            </a:extLst>
          </p:cNvPr>
          <p:cNvSpPr txBox="1"/>
          <p:nvPr/>
        </p:nvSpPr>
        <p:spPr>
          <a:xfrm>
            <a:off x="797412" y="760357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第四章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2B6DF3E-CA0F-6C66-F7AC-B5F5BDE56F0E}"/>
              </a:ext>
            </a:extLst>
          </p:cNvPr>
          <p:cNvSpPr txBox="1"/>
          <p:nvPr/>
        </p:nvSpPr>
        <p:spPr>
          <a:xfrm>
            <a:off x="1929635" y="760357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实验结果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967042B-A6D7-999F-5D18-CB2884961B72}"/>
              </a:ext>
            </a:extLst>
          </p:cNvPr>
          <p:cNvSpPr/>
          <p:nvPr/>
        </p:nvSpPr>
        <p:spPr>
          <a:xfrm>
            <a:off x="3264050" y="3909208"/>
            <a:ext cx="5950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zh-CN" altLang="en-US" sz="160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填写</a:t>
            </a:r>
            <a:endParaRPr lang="en-US" altLang="zh-CN" sz="1600" b="1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algn="dist"/>
            <a:r>
              <a:rPr lang="zh-CN" altLang="en-US" sz="160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标题</a:t>
            </a:r>
            <a:endParaRPr lang="zh-CN" altLang="en-US" sz="1400" b="1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040B930F-1520-FC7B-5AC2-A4946A1C81E6}"/>
              </a:ext>
            </a:extLst>
          </p:cNvPr>
          <p:cNvCxnSpPr/>
          <p:nvPr/>
        </p:nvCxnSpPr>
        <p:spPr>
          <a:xfrm>
            <a:off x="1842505" y="910273"/>
            <a:ext cx="0" cy="13105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>
            <a:extLst>
              <a:ext uri="{FF2B5EF4-FFF2-40B4-BE49-F238E27FC236}">
                <a16:creationId xmlns:a16="http://schemas.microsoft.com/office/drawing/2014/main" id="{18BBFFD2-2BAA-6A97-C895-48F0BDA266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9403"/>
          <a:stretch/>
        </p:blipFill>
        <p:spPr>
          <a:xfrm>
            <a:off x="627325" y="1213328"/>
            <a:ext cx="3815208" cy="269557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7AEEACB-832A-B719-390E-4AF425D4BE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9858"/>
          <a:stretch/>
        </p:blipFill>
        <p:spPr>
          <a:xfrm>
            <a:off x="7848873" y="1213328"/>
            <a:ext cx="3815208" cy="5200650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2D01DFC4-9E89-79F5-AEFB-2F426D607498}"/>
              </a:ext>
            </a:extLst>
          </p:cNvPr>
          <p:cNvSpPr/>
          <p:nvPr/>
        </p:nvSpPr>
        <p:spPr>
          <a:xfrm>
            <a:off x="627326" y="1278151"/>
            <a:ext cx="1743584" cy="2828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01AF08D-128D-258F-27F4-5EC944FDF3F4}"/>
              </a:ext>
            </a:extLst>
          </p:cNvPr>
          <p:cNvSpPr/>
          <p:nvPr/>
        </p:nvSpPr>
        <p:spPr>
          <a:xfrm>
            <a:off x="627325" y="2038549"/>
            <a:ext cx="1743584" cy="13251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C7B071F-5924-67FC-4CF9-64F3A8E87AF6}"/>
              </a:ext>
            </a:extLst>
          </p:cNvPr>
          <p:cNvSpPr/>
          <p:nvPr/>
        </p:nvSpPr>
        <p:spPr>
          <a:xfrm>
            <a:off x="7848873" y="3583739"/>
            <a:ext cx="2470785" cy="22096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F1F5FFCB-3D01-2CFC-379D-37C488A669EA}"/>
              </a:ext>
            </a:extLst>
          </p:cNvPr>
          <p:cNvCxnSpPr>
            <a:cxnSpLocks/>
          </p:cNvCxnSpPr>
          <p:nvPr/>
        </p:nvCxnSpPr>
        <p:spPr>
          <a:xfrm>
            <a:off x="2508493" y="1388722"/>
            <a:ext cx="2553364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9A8B62D9-1391-229E-AC59-A9023E803A87}"/>
              </a:ext>
            </a:extLst>
          </p:cNvPr>
          <p:cNvCxnSpPr>
            <a:cxnSpLocks/>
          </p:cNvCxnSpPr>
          <p:nvPr/>
        </p:nvCxnSpPr>
        <p:spPr>
          <a:xfrm flipV="1">
            <a:off x="2508493" y="1508760"/>
            <a:ext cx="2507644" cy="127986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EE03B67D-4C99-E2BF-C2B7-C71846888261}"/>
              </a:ext>
            </a:extLst>
          </p:cNvPr>
          <p:cNvCxnSpPr>
            <a:cxnSpLocks/>
          </p:cNvCxnSpPr>
          <p:nvPr/>
        </p:nvCxnSpPr>
        <p:spPr>
          <a:xfrm flipH="1">
            <a:off x="7178040" y="4729202"/>
            <a:ext cx="589416" cy="12364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3A97B95E-1C34-3E63-AFDA-CB6E4E069BC3}"/>
              </a:ext>
            </a:extLst>
          </p:cNvPr>
          <p:cNvSpPr txBox="1"/>
          <p:nvPr/>
        </p:nvSpPr>
        <p:spPr>
          <a:xfrm>
            <a:off x="5116119" y="1260818"/>
            <a:ext cx="2142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用户添加删除成功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4752F90-DB83-2BEF-A0F8-1224916A13D4}"/>
              </a:ext>
            </a:extLst>
          </p:cNvPr>
          <p:cNvSpPr txBox="1"/>
          <p:nvPr/>
        </p:nvSpPr>
        <p:spPr>
          <a:xfrm>
            <a:off x="4954315" y="4688557"/>
            <a:ext cx="2142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默认路由删除失败</a:t>
            </a:r>
          </a:p>
        </p:txBody>
      </p:sp>
    </p:spTree>
    <p:extLst>
      <p:ext uri="{BB962C8B-B14F-4D97-AF65-F5344CB8AC3E}">
        <p14:creationId xmlns:p14="http://schemas.microsoft.com/office/powerpoint/2010/main" val="6834072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B15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矩形: 圆角 9"/>
          <p:cNvSpPr/>
          <p:nvPr/>
        </p:nvSpPr>
        <p:spPr>
          <a:xfrm>
            <a:off x="272980" y="308163"/>
            <a:ext cx="11646039" cy="6241673"/>
          </a:xfrm>
          <a:prstGeom prst="roundRect">
            <a:avLst>
              <a:gd name="adj" fmla="val 3728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文本占位符 4"/>
          <p:cNvSpPr txBox="1"/>
          <p:nvPr/>
        </p:nvSpPr>
        <p:spPr>
          <a:xfrm>
            <a:off x="565150" y="5887163"/>
            <a:ext cx="2228850" cy="3416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15" name="文本占位符 5"/>
          <p:cNvSpPr txBox="1"/>
          <p:nvPr/>
        </p:nvSpPr>
        <p:spPr>
          <a:xfrm>
            <a:off x="3249747" y="5887163"/>
            <a:ext cx="2433461" cy="3416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2452742" y="3182181"/>
            <a:ext cx="6460929" cy="7800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20000"/>
              </a:lnSpc>
              <a:defRPr/>
            </a:pPr>
            <a:r>
              <a:rPr lang="zh-CN" altLang="en-US" sz="4000" dirty="0">
                <a:solidFill>
                  <a:srgbClr val="6B1554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感谢指导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2865535" y="3962203"/>
            <a:ext cx="64609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sz="4000" dirty="0">
                <a:solidFill>
                  <a:schemeClr val="bg1">
                    <a:lumMod val="9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THANK YOU!</a:t>
            </a:r>
          </a:p>
        </p:txBody>
      </p:sp>
      <p:pic>
        <p:nvPicPr>
          <p:cNvPr id="23" name="Picture 22" descr="59-南开大学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367" y="842699"/>
            <a:ext cx="2003681" cy="2003681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zUxNzdlZTU5YTdjYjQxMGVhNWM1MGQ0ZmY1MWJkYjA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632</TotalTime>
  <Words>384</Words>
  <Application>Microsoft Office PowerPoint</Application>
  <PresentationFormat>宽屏</PresentationFormat>
  <Paragraphs>98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1" baseType="lpstr">
      <vt:lpstr>等线 Light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淘宝店铺:想搞设计</dc:title>
  <dc:subject>淘宝店铺:想搞设计</dc:subject>
  <dc:creator>淘宝店铺:想搞设计</dc:creator>
  <cp:keywords>淘宝店铺:想搞设计</cp:keywords>
  <dc:description>淘宝店铺:想搞设计</dc:description>
  <cp:lastModifiedBy>子桓 才</cp:lastModifiedBy>
  <cp:revision>30</cp:revision>
  <dcterms:created xsi:type="dcterms:W3CDTF">2020-07-29T06:33:00Z</dcterms:created>
  <dcterms:modified xsi:type="dcterms:W3CDTF">2024-12-10T12:19:25Z</dcterms:modified>
  <cp:category>淘宝店铺:想搞设计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2052-12.1.0.15358</vt:lpwstr>
  </property>
  <property fmtid="{D5CDD505-2E9C-101B-9397-08002B2CF9AE}" pid="3" name="ICV">
    <vt:lpwstr>170AC49EAA4744418459A7564BD5CFA3_12</vt:lpwstr>
  </property>
</Properties>
</file>